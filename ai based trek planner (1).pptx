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4" r:id="rId8"/>
    <p:sldId id="266" r:id="rId9"/>
    <p:sldId id="267" r:id="rId10"/>
    <p:sldId id="268" r:id="rId11"/>
    <p:sldId id="269" r:id="rId12"/>
    <p:sldId id="270"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63F9A0-BF98-4FF9-ACA7-FE083895CD77}" v="2" dt="2026-07-18T14:33:13.182"/>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1027"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i Patil" userId="7087fc0dc06d1660" providerId="LiveId" clId="{F6AA65C2-4FC1-4B7E-A7FD-6EF19E4CFBBF}"/>
    <pc:docChg chg="custSel addSld delSld modSld">
      <pc:chgData name="Tanvi Patil" userId="7087fc0dc06d1660" providerId="LiveId" clId="{F6AA65C2-4FC1-4B7E-A7FD-6EF19E4CFBBF}" dt="2026-07-18T14:33:13.182" v="64"/>
      <pc:docMkLst>
        <pc:docMk/>
      </pc:docMkLst>
      <pc:sldChg chg="modSp mod">
        <pc:chgData name="Tanvi Patil" userId="7087fc0dc06d1660" providerId="LiveId" clId="{F6AA65C2-4FC1-4B7E-A7FD-6EF19E4CFBBF}" dt="2026-07-18T14:33:13.182" v="64"/>
        <pc:sldMkLst>
          <pc:docMk/>
          <pc:sldMk cId="0" sldId="267"/>
        </pc:sldMkLst>
        <pc:spChg chg="mod">
          <ac:chgData name="Tanvi Patil" userId="7087fc0dc06d1660" providerId="LiveId" clId="{F6AA65C2-4FC1-4B7E-A7FD-6EF19E4CFBBF}" dt="2026-07-18T14:33:13.182" v="64"/>
          <ac:spMkLst>
            <pc:docMk/>
            <pc:sldMk cId="0" sldId="267"/>
            <ac:spMk id="164" creationId="{00000000-0000-0000-0000-000000000000}"/>
          </ac:spMkLst>
        </pc:spChg>
      </pc:sldChg>
      <pc:sldChg chg="modSp mod">
        <pc:chgData name="Tanvi Patil" userId="7087fc0dc06d1660" providerId="LiveId" clId="{F6AA65C2-4FC1-4B7E-A7FD-6EF19E4CFBBF}" dt="2026-07-18T14:09:29.985" v="20" actId="1076"/>
        <pc:sldMkLst>
          <pc:docMk/>
          <pc:sldMk cId="0" sldId="269"/>
        </pc:sldMkLst>
        <pc:picChg chg="mod">
          <ac:chgData name="Tanvi Patil" userId="7087fc0dc06d1660" providerId="LiveId" clId="{F6AA65C2-4FC1-4B7E-A7FD-6EF19E4CFBBF}" dt="2026-07-18T14:09:29.985" v="20" actId="1076"/>
          <ac:picMkLst>
            <pc:docMk/>
            <pc:sldMk cId="0" sldId="269"/>
            <ac:picMk id="3" creationId="{1AB1A5FA-3854-F551-EAD1-3C018CB4D803}"/>
          </ac:picMkLst>
        </pc:picChg>
        <pc:picChg chg="mod">
          <ac:chgData name="Tanvi Patil" userId="7087fc0dc06d1660" providerId="LiveId" clId="{F6AA65C2-4FC1-4B7E-A7FD-6EF19E4CFBBF}" dt="2026-07-18T14:09:11.199" v="13" actId="1076"/>
          <ac:picMkLst>
            <pc:docMk/>
            <pc:sldMk cId="0" sldId="269"/>
            <ac:picMk id="4" creationId="{0C18AAE6-4B2D-CA96-4689-62B7A761F6BC}"/>
          </ac:picMkLst>
        </pc:picChg>
        <pc:picChg chg="mod">
          <ac:chgData name="Tanvi Patil" userId="7087fc0dc06d1660" providerId="LiveId" clId="{F6AA65C2-4FC1-4B7E-A7FD-6EF19E4CFBBF}" dt="2026-07-18T14:09:06.355" v="11" actId="1076"/>
          <ac:picMkLst>
            <pc:docMk/>
            <pc:sldMk cId="0" sldId="269"/>
            <ac:picMk id="6" creationId="{28794C15-7CF8-7B49-0AC4-DB912DA6F709}"/>
          </ac:picMkLst>
        </pc:picChg>
        <pc:picChg chg="mod">
          <ac:chgData name="Tanvi Patil" userId="7087fc0dc06d1660" providerId="LiveId" clId="{F6AA65C2-4FC1-4B7E-A7FD-6EF19E4CFBBF}" dt="2026-07-18T14:09:27.968" v="19" actId="1076"/>
          <ac:picMkLst>
            <pc:docMk/>
            <pc:sldMk cId="0" sldId="269"/>
            <ac:picMk id="8" creationId="{0D51D878-DB3F-DCB7-8F65-5EA756E4BBC4}"/>
          </ac:picMkLst>
        </pc:picChg>
      </pc:sldChg>
      <pc:sldChg chg="addSp modSp new del mod">
        <pc:chgData name="Tanvi Patil" userId="7087fc0dc06d1660" providerId="LiveId" clId="{F6AA65C2-4FC1-4B7E-A7FD-6EF19E4CFBBF}" dt="2026-07-18T14:08:45.224" v="5" actId="47"/>
        <pc:sldMkLst>
          <pc:docMk/>
          <pc:sldMk cId="908063888" sldId="271"/>
        </pc:sldMkLst>
        <pc:spChg chg="mod">
          <ac:chgData name="Tanvi Patil" userId="7087fc0dc06d1660" providerId="LiveId" clId="{F6AA65C2-4FC1-4B7E-A7FD-6EF19E4CFBBF}" dt="2026-07-18T14:08:29.733" v="4" actId="27636"/>
          <ac:spMkLst>
            <pc:docMk/>
            <pc:sldMk cId="908063888" sldId="271"/>
            <ac:spMk id="2" creationId="{A6C60F2C-7065-6141-9439-034F7CB28790}"/>
          </ac:spMkLst>
        </pc:spChg>
        <pc:picChg chg="add mod">
          <ac:chgData name="Tanvi Patil" userId="7087fc0dc06d1660" providerId="LiveId" clId="{F6AA65C2-4FC1-4B7E-A7FD-6EF19E4CFBBF}" dt="2026-07-18T14:08:20.786" v="2" actId="1076"/>
          <ac:picMkLst>
            <pc:docMk/>
            <pc:sldMk cId="908063888" sldId="271"/>
            <ac:picMk id="5" creationId="{F82B3861-95E7-271F-96AE-5BB3F483846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854533622"/>
              </p:ext>
            </p:extLst>
          </p:nvPr>
        </p:nvGraphicFramePr>
        <p:xfrm>
          <a:off x="1102321" y="2600314"/>
          <a:ext cx="9591937" cy="3592141"/>
        </p:xfrm>
        <a:graphic>
          <a:graphicData uri="http://schemas.openxmlformats.org/drawingml/2006/table">
            <a:tbl>
              <a:tblPr>
                <a:noFill/>
                <a:tableStyleId>{F063BE5B-8E01-4B91-9C5C-8479B17E1E5F}</a:tableStyleId>
              </a:tblPr>
              <a:tblGrid>
                <a:gridCol w="2108158">
                  <a:extLst>
                    <a:ext uri="{9D8B030D-6E8A-4147-A177-3AD203B41FA5}">
                      <a16:colId xmlns:a16="http://schemas.microsoft.com/office/drawing/2014/main" val="20000"/>
                    </a:ext>
                  </a:extLst>
                </a:gridCol>
                <a:gridCol w="2494593">
                  <a:extLst>
                    <a:ext uri="{9D8B030D-6E8A-4147-A177-3AD203B41FA5}">
                      <a16:colId xmlns:a16="http://schemas.microsoft.com/office/drawing/2014/main" val="20001"/>
                    </a:ext>
                  </a:extLst>
                </a:gridCol>
                <a:gridCol w="2494593">
                  <a:extLst>
                    <a:ext uri="{9D8B030D-6E8A-4147-A177-3AD203B41FA5}">
                      <a16:colId xmlns:a16="http://schemas.microsoft.com/office/drawing/2014/main" val="20002"/>
                    </a:ext>
                  </a:extLst>
                </a:gridCol>
                <a:gridCol w="2494593">
                  <a:extLst>
                    <a:ext uri="{9D8B030D-6E8A-4147-A177-3AD203B41FA5}">
                      <a16:colId xmlns:a16="http://schemas.microsoft.com/office/drawing/2014/main" val="20003"/>
                    </a:ext>
                  </a:extLst>
                </a:gridCol>
              </a:tblGrid>
              <a:tr h="161318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Recent Passport Photo</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978961">
                <a:tc>
                  <a:txBody>
                    <a:bodyPr/>
                    <a:lstStyle/>
                    <a:p>
                      <a:pPr marL="0" marR="0" lvl="0" indent="0" algn="l" rtl="0">
                        <a:lnSpc>
                          <a:spcPct val="100000"/>
                        </a:lnSpc>
                        <a:spcBef>
                          <a:spcPts val="0"/>
                        </a:spcBef>
                        <a:spcAft>
                          <a:spcPts val="0"/>
                        </a:spcAft>
                        <a:buClr>
                          <a:srgbClr val="000000"/>
                        </a:buClr>
                        <a:buSzPts val="1400"/>
                        <a:buFont typeface="Arial"/>
                        <a:buNone/>
                      </a:pPr>
                      <a:r>
                        <a:rPr lang="en-IN" sz="2800" dirty="0"/>
                        <a:t>Tanvi Patil</a:t>
                      </a:r>
                      <a:endParaRPr sz="2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2800" u="none" strike="noStrike" cap="none" dirty="0"/>
                        <a:t>tavippatil2217@gmail.com</a:t>
                      </a:r>
                      <a:endParaRPr sz="2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 </a:t>
                      </a:r>
                      <a:r>
                        <a:rPr lang="en-IN" sz="2800" u="none" strike="noStrike" cap="none" dirty="0"/>
                        <a:t>7498819853</a:t>
                      </a:r>
                      <a:endParaRPr sz="2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24"/>
          </a:xfrm>
          <a:prstGeom prst="rect">
            <a:avLst/>
          </a:prstGeom>
          <a:noFill/>
          <a:ln>
            <a:noFill/>
          </a:ln>
        </p:spPr>
        <p:txBody>
          <a:bodyPr spcFirstLastPara="1" wrap="square" lIns="91425" tIns="45700" rIns="91425" bIns="45700" anchor="t" anchorCtr="0">
            <a:spAutoFit/>
          </a:bodyPr>
          <a:lstStyle/>
          <a:p>
            <a:pPr lvl="0"/>
            <a:r>
              <a:rPr lang="en-IN" sz="2400" b="1" dirty="0">
                <a:highlight>
                  <a:srgbClr val="FFFF00"/>
                </a:highlight>
              </a:rPr>
              <a:t>Domain:</a:t>
            </a:r>
            <a:r>
              <a:rPr lang="en-IN" sz="2400" dirty="0">
                <a:highlight>
                  <a:srgbClr val="FFFF00"/>
                </a:highlight>
              </a:rPr>
              <a:t> Tourism &amp; Travel</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24"/>
          </a:xfrm>
          <a:prstGeom prst="rect">
            <a:avLst/>
          </a:prstGeom>
          <a:noFill/>
          <a:ln>
            <a:noFill/>
          </a:ln>
        </p:spPr>
        <p:txBody>
          <a:bodyPr spcFirstLastPara="1" wrap="square" lIns="91425" tIns="45700" rIns="91425" bIns="45700" anchor="t" anchorCtr="0">
            <a:spAutoFit/>
          </a:bodyPr>
          <a:lstStyle/>
          <a:p>
            <a:pPr lvl="0"/>
            <a:r>
              <a:rPr lang="en-IN" sz="2400" b="1" dirty="0">
                <a:highlight>
                  <a:srgbClr val="FFFF00"/>
                </a:highlight>
              </a:rPr>
              <a:t>Project Title:</a:t>
            </a:r>
            <a:r>
              <a:rPr lang="en-IN" sz="2400" dirty="0">
                <a:highlight>
                  <a:srgbClr val="FFFF00"/>
                </a:highlight>
              </a:rPr>
              <a:t> AI-Powered Trek Planner</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17A9E040-E5B3-02B2-4C79-0DE63DFA4B8D}"/>
              </a:ext>
            </a:extLst>
          </p:cNvPr>
          <p:cNvPicPr>
            <a:picLocks noChangeAspect="1"/>
          </p:cNvPicPr>
          <p:nvPr/>
        </p:nvPicPr>
        <p:blipFill>
          <a:blip r:embed="rId3"/>
          <a:stretch>
            <a:fillRect/>
          </a:stretch>
        </p:blipFill>
        <p:spPr>
          <a:xfrm>
            <a:off x="3778097" y="4350068"/>
            <a:ext cx="1372638" cy="17211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40568" cy="4616608"/>
          </a:xfrm>
          <a:prstGeom prst="rect">
            <a:avLst/>
          </a:prstGeom>
          <a:noFill/>
          <a:ln>
            <a:noFill/>
          </a:ln>
        </p:spPr>
        <p:txBody>
          <a:bodyPr spcFirstLastPara="1" wrap="square" lIns="91425" tIns="45700" rIns="91425" bIns="45700" anchor="t" anchorCtr="0">
            <a:spAutoFit/>
          </a:bodyPr>
          <a:lstStyle/>
          <a:p>
            <a:r>
              <a:rPr lang="en-IN" sz="2000" dirty="0"/>
              <a:t>Planning a trekking trip can be challenging because information about trekking destinations, routes, weather, difficulty levels, permits, accommodation, and safety precautions is scattered across multiple websites. Beginners often struggle to choose suitable treks according to their fitness level and available time.</a:t>
            </a:r>
          </a:p>
          <a:p>
            <a:pPr marR="0" lvl="0" algn="l" rtl="0">
              <a:lnSpc>
                <a:spcPct val="100000"/>
              </a:lnSpc>
              <a:spcBef>
                <a:spcPts val="0"/>
              </a:spcBef>
              <a:spcAft>
                <a:spcPts val="0"/>
              </a:spcAft>
            </a:pPr>
            <a:endParaRPr sz="2000" b="1"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Font typeface="Arial" panose="020B0604020202020204" pitchFamily="34" charset="0"/>
              <a:buChar char="•"/>
            </a:pPr>
            <a:r>
              <a:rPr lang="en-US" sz="2000" b="1" i="0" u="none" strike="noStrike" cap="none" dirty="0">
                <a:solidFill>
                  <a:srgbClr val="000000"/>
                </a:solidFill>
                <a:latin typeface="Arial"/>
                <a:ea typeface="Arial"/>
                <a:cs typeface="Arial"/>
                <a:sym typeface="Arial"/>
              </a:rPr>
              <a:t>The Challenge</a:t>
            </a:r>
          </a:p>
          <a:p>
            <a:pPr marL="285750" indent="-285750">
              <a:buFont typeface="Arial" panose="020B0604020202020204" pitchFamily="34" charset="0"/>
              <a:buChar char="•"/>
            </a:pPr>
            <a:r>
              <a:rPr lang="en-IN" sz="2000" dirty="0"/>
              <a:t>Lack of centralized information results in poor planning, increased travel costs, and safety risks.</a:t>
            </a:r>
          </a:p>
          <a:p>
            <a:pPr marR="0" lvl="0" algn="l" rtl="0">
              <a:lnSpc>
                <a:spcPct val="100000"/>
              </a:lnSpc>
              <a:spcBef>
                <a:spcPts val="0"/>
              </a:spcBef>
              <a:spcAft>
                <a:spcPts val="0"/>
              </a:spcAft>
            </a:pPr>
            <a:endParaRPr lang="en-US" sz="2000" dirty="0"/>
          </a:p>
          <a:p>
            <a:pPr marR="0" lvl="0" algn="l" rtl="0">
              <a:lnSpc>
                <a:spcPct val="100000"/>
              </a:lnSpc>
              <a:spcBef>
                <a:spcPts val="0"/>
              </a:spcBef>
              <a:spcAft>
                <a:spcPts val="0"/>
              </a:spcAft>
            </a:pP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Font typeface="Arial" panose="020B0604020202020204" pitchFamily="34" charset="0"/>
              <a:buChar char="•"/>
            </a:pPr>
            <a:r>
              <a:rPr lang="en-US" sz="2000" b="1" i="0" u="none" strike="noStrike" cap="none" dirty="0">
                <a:solidFill>
                  <a:srgbClr val="000000"/>
                </a:solidFill>
                <a:latin typeface="Arial"/>
                <a:ea typeface="Arial"/>
                <a:cs typeface="Arial"/>
                <a:sym typeface="Arial"/>
              </a:rPr>
              <a:t>The Objective</a:t>
            </a:r>
            <a:r>
              <a:rPr lang="en-US" sz="2000" b="0" i="0" u="none" strike="noStrike" cap="none" dirty="0">
                <a:solidFill>
                  <a:srgbClr val="000000"/>
                </a:solidFill>
                <a:latin typeface="Arial"/>
                <a:ea typeface="Arial"/>
                <a:cs typeface="Arial"/>
                <a:sym typeface="Arial"/>
              </a:rPr>
              <a:t> </a:t>
            </a:r>
            <a:endParaRPr sz="2000" dirty="0"/>
          </a:p>
          <a:p>
            <a:pPr marL="285750" lvl="0" indent="-285750">
              <a:buFont typeface="Arial" panose="020B0604020202020204" pitchFamily="34" charset="0"/>
              <a:buChar char="•"/>
            </a:pPr>
            <a:r>
              <a:rPr lang="en-IN" sz="2000" dirty="0"/>
              <a:t>The objective of this project is to develop an AI-powered Trek Planner that provides personalized trekking recommendations, destination details, weather information, itinerary generation, and travel guidance through an intelligent chatbot interface.</a:t>
            </a: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109051"/>
          </a:xfrm>
          <a:prstGeom prst="rect">
            <a:avLst/>
          </a:prstGeom>
          <a:noFill/>
          <a:ln>
            <a:noFill/>
          </a:ln>
        </p:spPr>
        <p:txBody>
          <a:bodyPr spcFirstLastPara="1" wrap="square" lIns="91425" tIns="45700" rIns="91425" bIns="45700" anchor="t" anchorCtr="0">
            <a:spAutoFit/>
          </a:bodyPr>
          <a:lstStyle/>
          <a:p>
            <a:r>
              <a:rPr lang="en-IN" sz="2400" dirty="0"/>
              <a:t>The AI Trek Planner is a web-based application that helps users plan trekking trips efficiently.</a:t>
            </a:r>
          </a:p>
          <a:p>
            <a:pPr marL="342900" indent="-342900">
              <a:buFont typeface="Arial" panose="020B0604020202020204" pitchFamily="34" charset="0"/>
              <a:buChar char="•"/>
            </a:pPr>
            <a:r>
              <a:rPr lang="en-IN" sz="2400" dirty="0"/>
              <a:t>The system allows users to:</a:t>
            </a:r>
          </a:p>
          <a:p>
            <a:pPr marL="342900" indent="-342900">
              <a:buFont typeface="Arial" panose="020B0604020202020204" pitchFamily="34" charset="0"/>
              <a:buChar char="•"/>
            </a:pPr>
            <a:r>
              <a:rPr lang="en-IN" sz="2400" dirty="0"/>
              <a:t>Search trekking destinations </a:t>
            </a:r>
          </a:p>
          <a:p>
            <a:pPr marL="342900" indent="-342900">
              <a:buFont typeface="Arial" panose="020B0604020202020204" pitchFamily="34" charset="0"/>
              <a:buChar char="•"/>
            </a:pPr>
            <a:r>
              <a:rPr lang="en-IN" sz="2400" dirty="0"/>
              <a:t>View trek details </a:t>
            </a:r>
          </a:p>
          <a:p>
            <a:pPr marL="342900" indent="-342900">
              <a:buFont typeface="Arial" panose="020B0604020202020204" pitchFamily="34" charset="0"/>
              <a:buChar char="•"/>
            </a:pPr>
            <a:r>
              <a:rPr lang="en-IN" sz="2400" dirty="0"/>
              <a:t>Generate personalized trekking plans </a:t>
            </a:r>
          </a:p>
          <a:p>
            <a:pPr marL="342900" indent="-342900">
              <a:buFont typeface="Arial" panose="020B0604020202020204" pitchFamily="34" charset="0"/>
              <a:buChar char="•"/>
            </a:pPr>
            <a:r>
              <a:rPr lang="en-IN" sz="2400" dirty="0"/>
              <a:t>Get AI-powered recommendations </a:t>
            </a:r>
          </a:p>
          <a:p>
            <a:pPr marL="342900" indent="-342900">
              <a:buFont typeface="Arial" panose="020B0604020202020204" pitchFamily="34" charset="0"/>
              <a:buChar char="•"/>
            </a:pPr>
            <a:r>
              <a:rPr lang="en-IN" sz="2400" dirty="0"/>
              <a:t>Receive weather and travel suggestions </a:t>
            </a:r>
          </a:p>
          <a:p>
            <a:pPr marL="342900" indent="-342900">
              <a:buFont typeface="Arial" panose="020B0604020202020204" pitchFamily="34" charset="0"/>
              <a:buChar char="•"/>
            </a:pPr>
            <a:r>
              <a:rPr lang="en-IN" sz="2400" dirty="0"/>
              <a:t>Access safety guidelines </a:t>
            </a:r>
          </a:p>
          <a:p>
            <a:pPr marL="342900" indent="-342900">
              <a:buFont typeface="Arial" panose="020B0604020202020204" pitchFamily="34" charset="0"/>
              <a:buChar char="•"/>
            </a:pPr>
            <a:r>
              <a:rPr lang="en-IN" sz="2400" dirty="0"/>
              <a:t>Plan itineraries according to duration and difficulty </a:t>
            </a:r>
          </a:p>
          <a:p>
            <a:r>
              <a:rPr lang="en-IN" sz="2400" dirty="0"/>
              <a:t>The application provides all essential trekking information in one </a:t>
            </a:r>
            <a:r>
              <a:rPr lang="en-IN" sz="2400" dirty="0" err="1"/>
              <a:t>place,reducing</a:t>
            </a:r>
            <a:r>
              <a:rPr lang="en-IN" sz="2400" dirty="0"/>
              <a:t> planning effort and improving user experience.</a:t>
            </a:r>
          </a:p>
          <a:p>
            <a:pPr marL="0" marR="0" lvl="0" indent="0" algn="l" rtl="0">
              <a:lnSpc>
                <a:spcPct val="100000"/>
              </a:lnSpc>
              <a:spcBef>
                <a:spcPts val="0"/>
              </a:spcBef>
              <a:spcAft>
                <a:spcPts val="0"/>
              </a:spcAft>
              <a:buNone/>
            </a:pP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478382"/>
          </a:xfrm>
          <a:prstGeom prst="rect">
            <a:avLst/>
          </a:prstGeom>
          <a:noFill/>
          <a:ln>
            <a:noFill/>
          </a:ln>
        </p:spPr>
        <p:txBody>
          <a:bodyPr spcFirstLastPara="1" wrap="square" lIns="91425" tIns="45700" rIns="91425" bIns="45700" anchor="t" anchorCtr="0">
            <a:spAutoFit/>
          </a:bodyPr>
          <a:lstStyle/>
          <a:p>
            <a:r>
              <a:rPr lang="en-IN" sz="2400" dirty="0"/>
              <a:t>Replace with your actual technologies.</a:t>
            </a:r>
          </a:p>
          <a:p>
            <a:endParaRPr lang="en-IN" sz="2400" dirty="0"/>
          </a:p>
          <a:p>
            <a:r>
              <a:rPr lang="en-IN" sz="2400" dirty="0"/>
              <a:t>Example:</a:t>
            </a:r>
          </a:p>
          <a:p>
            <a:r>
              <a:rPr lang="en-IN" sz="2400" dirty="0"/>
              <a:t>Python </a:t>
            </a:r>
          </a:p>
          <a:p>
            <a:r>
              <a:rPr lang="en-IN" sz="2400" dirty="0"/>
              <a:t>Flask </a:t>
            </a:r>
          </a:p>
          <a:p>
            <a:r>
              <a:rPr lang="en-IN" sz="2400" dirty="0"/>
              <a:t>HTML </a:t>
            </a:r>
          </a:p>
          <a:p>
            <a:r>
              <a:rPr lang="en-IN" sz="2400" dirty="0"/>
              <a:t>CSS </a:t>
            </a:r>
          </a:p>
          <a:p>
            <a:r>
              <a:rPr lang="en-IN" sz="2400" dirty="0"/>
              <a:t>JavaScript </a:t>
            </a:r>
          </a:p>
          <a:p>
            <a:r>
              <a:rPr lang="en-IN" sz="2400" dirty="0"/>
              <a:t>IBM Granite Model </a:t>
            </a:r>
          </a:p>
          <a:p>
            <a:r>
              <a:rPr lang="en-IN" sz="2400" dirty="0" err="1"/>
              <a:t>LangFlow</a:t>
            </a:r>
            <a:r>
              <a:rPr lang="en-IN" sz="2400" dirty="0"/>
              <a:t> </a:t>
            </a:r>
          </a:p>
          <a:p>
            <a:r>
              <a:rPr lang="en-IN" sz="2400" dirty="0"/>
              <a:t>IBM Watsonx.ai </a:t>
            </a:r>
          </a:p>
          <a:p>
            <a:r>
              <a:rPr lang="en-IN" sz="2400" dirty="0"/>
              <a:t>GitHub </a:t>
            </a:r>
          </a:p>
          <a:p>
            <a:r>
              <a:rPr lang="en-IN" sz="2400" dirty="0"/>
              <a:t>REST APIs </a:t>
            </a:r>
          </a:p>
          <a:p>
            <a:r>
              <a:rPr lang="en-IN" sz="2400" dirty="0"/>
              <a:t>SQLite </a:t>
            </a:r>
            <a:endParaRPr lang="en-IN"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665321" y="1312041"/>
            <a:ext cx="8823960" cy="5816937"/>
          </a:xfrm>
          <a:prstGeom prst="rect">
            <a:avLst/>
          </a:prstGeom>
          <a:noFill/>
          <a:ln>
            <a:noFill/>
          </a:ln>
        </p:spPr>
        <p:txBody>
          <a:bodyPr spcFirstLastPara="1" wrap="square" lIns="91425" tIns="45700" rIns="91425" bIns="45700" anchor="t" anchorCtr="0">
            <a:spAutoFit/>
          </a:bodyPr>
          <a:lstStyle/>
          <a:p>
            <a:r>
              <a:rPr lang="en-IN" sz="2000" dirty="0"/>
              <a:t>Example:</a:t>
            </a:r>
          </a:p>
          <a:p>
            <a:r>
              <a:rPr lang="en-IN" sz="2000" dirty="0"/>
              <a:t>1. Chat Input </a:t>
            </a:r>
          </a:p>
          <a:p>
            <a:r>
              <a:rPr lang="en-IN" sz="2000" dirty="0"/>
              <a:t>    Accepts user trekking queries.</a:t>
            </a:r>
          </a:p>
          <a:p>
            <a:r>
              <a:rPr lang="en-IN" sz="2000" dirty="0"/>
              <a:t>2.IBM </a:t>
            </a:r>
            <a:r>
              <a:rPr lang="en-IN" sz="2000" dirty="0" err="1"/>
              <a:t>Watsonx</a:t>
            </a:r>
            <a:r>
              <a:rPr lang="en-IN" sz="2000" dirty="0"/>
              <a:t> AI Agent </a:t>
            </a:r>
          </a:p>
          <a:p>
            <a:r>
              <a:rPr lang="en-IN" sz="2000" dirty="0"/>
              <a:t>    Processes user questions using Granite model.</a:t>
            </a:r>
          </a:p>
          <a:p>
            <a:r>
              <a:rPr lang="en-IN" sz="2000" dirty="0"/>
              <a:t>3.Granite 4.0 8B Instruct </a:t>
            </a:r>
          </a:p>
          <a:p>
            <a:r>
              <a:rPr lang="en-IN" sz="2000" dirty="0"/>
              <a:t>    Generates intelligent trekking recommendations.</a:t>
            </a:r>
          </a:p>
          <a:p>
            <a:r>
              <a:rPr lang="en-IN" sz="2000" dirty="0"/>
              <a:t>4.Chat Output </a:t>
            </a:r>
          </a:p>
          <a:p>
            <a:r>
              <a:rPr lang="en-IN" sz="2000" dirty="0"/>
              <a:t>    Displays personalized trekking plans.</a:t>
            </a:r>
          </a:p>
          <a:p>
            <a:r>
              <a:rPr lang="en-IN" sz="2000" dirty="0"/>
              <a:t>5.Prompt Template </a:t>
            </a:r>
          </a:p>
          <a:p>
            <a:r>
              <a:rPr lang="en-IN" sz="2000" dirty="0"/>
              <a:t>   Creates structured prompts for the AI.</a:t>
            </a:r>
          </a:p>
          <a:p>
            <a:r>
              <a:rPr lang="en-IN" sz="2000" dirty="0"/>
              <a:t>6.API Component </a:t>
            </a:r>
          </a:p>
          <a:p>
            <a:r>
              <a:rPr lang="en-IN" sz="2000" dirty="0"/>
              <a:t>   Fetches trekking information and weather data.</a:t>
            </a: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4616608"/>
          </a:xfrm>
          <a:prstGeom prst="rect">
            <a:avLst/>
          </a:prstGeom>
          <a:noFill/>
          <a:ln>
            <a:noFill/>
          </a:ln>
        </p:spPr>
        <p:txBody>
          <a:bodyPr spcFirstLastPara="1" wrap="square" lIns="91425" tIns="45700" rIns="91425" bIns="45700" anchor="t" anchorCtr="0">
            <a:spAutoFit/>
          </a:bodyPr>
          <a:lstStyle/>
          <a:p>
            <a:r>
              <a:rPr lang="en-IN" sz="2000" b="1" dirty="0"/>
              <a:t>Role of Agentic AI</a:t>
            </a:r>
          </a:p>
          <a:p>
            <a:r>
              <a:rPr lang="en-IN" sz="2000" dirty="0"/>
              <a:t>Agentic AI enables the Trek Planner to act as an intelligent travel assistant rather than a simple chatbot.</a:t>
            </a:r>
          </a:p>
          <a:p>
            <a:r>
              <a:rPr lang="en-IN" sz="2000" dirty="0"/>
              <a:t>It understands user preferences such as:</a:t>
            </a:r>
          </a:p>
          <a:p>
            <a:pPr marL="342900" indent="-342900">
              <a:buFont typeface="Arial" panose="020B0604020202020204" pitchFamily="34" charset="0"/>
              <a:buChar char="•"/>
            </a:pPr>
            <a:r>
              <a:rPr lang="en-IN" sz="2000" dirty="0"/>
              <a:t>Trek difficulty </a:t>
            </a:r>
          </a:p>
          <a:p>
            <a:pPr marL="342900" indent="-342900">
              <a:buFont typeface="Arial" panose="020B0604020202020204" pitchFamily="34" charset="0"/>
              <a:buChar char="•"/>
            </a:pPr>
            <a:r>
              <a:rPr lang="en-IN" sz="2000" dirty="0"/>
              <a:t>Budget </a:t>
            </a:r>
          </a:p>
          <a:p>
            <a:pPr marL="342900" indent="-342900">
              <a:buFont typeface="Arial" panose="020B0604020202020204" pitchFamily="34" charset="0"/>
              <a:buChar char="•"/>
            </a:pPr>
            <a:r>
              <a:rPr lang="en-IN" sz="2000" dirty="0"/>
              <a:t>Duration </a:t>
            </a:r>
          </a:p>
          <a:p>
            <a:pPr marL="342900" indent="-342900">
              <a:buFont typeface="Arial" panose="020B0604020202020204" pitchFamily="34" charset="0"/>
              <a:buChar char="•"/>
            </a:pPr>
            <a:r>
              <a:rPr lang="en-IN" sz="2000" dirty="0"/>
              <a:t>Location </a:t>
            </a:r>
          </a:p>
          <a:p>
            <a:pPr marL="342900" indent="-342900">
              <a:buFont typeface="Arial" panose="020B0604020202020204" pitchFamily="34" charset="0"/>
              <a:buChar char="•"/>
            </a:pPr>
            <a:r>
              <a:rPr lang="en-IN" sz="2000" dirty="0"/>
              <a:t>Season </a:t>
            </a:r>
          </a:p>
          <a:p>
            <a:r>
              <a:rPr lang="en-IN" sz="2000" dirty="0"/>
              <a:t>The AI </a:t>
            </a:r>
            <a:r>
              <a:rPr lang="en-IN" sz="2000" dirty="0" err="1"/>
              <a:t>analyzes</a:t>
            </a:r>
            <a:r>
              <a:rPr lang="en-IN" sz="2000" dirty="0"/>
              <a:t> user input, retrieves relevant trekking information, generates personalized itineraries, and recommends suitable trekking destinations.</a:t>
            </a:r>
          </a:p>
          <a:p>
            <a:r>
              <a:rPr lang="en-IN" sz="2000" dirty="0"/>
              <a:t>It continuously adapts recommendations based on user queries, making the planning process smarter and more interactive.</a:t>
            </a:r>
          </a:p>
          <a:p>
            <a:pPr marL="0" marR="0" lvl="0" indent="0" algn="l" rtl="0">
              <a:lnSpc>
                <a:spcPct val="100000"/>
              </a:lnSpc>
              <a:spcBef>
                <a:spcPts val="0"/>
              </a:spcBef>
              <a:spcAft>
                <a:spcPts val="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4001055"/>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endParaRPr lang="en-IN" sz="2400" b="1" dirty="0"/>
          </a:p>
          <a:p>
            <a:pPr marL="285750" indent="-285750">
              <a:buFont typeface="Arial" panose="020B0604020202020204" pitchFamily="34" charset="0"/>
              <a:buChar char="•"/>
            </a:pPr>
            <a:r>
              <a:rPr lang="en-IN" sz="2400" dirty="0"/>
              <a:t>AI-powered personalized trek planning </a:t>
            </a:r>
          </a:p>
          <a:p>
            <a:pPr marL="285750" indent="-285750">
              <a:buFont typeface="Arial" panose="020B0604020202020204" pitchFamily="34" charset="0"/>
              <a:buChar char="•"/>
            </a:pPr>
            <a:r>
              <a:rPr lang="en-IN" sz="2400" dirty="0"/>
              <a:t>Smart destination recommendation </a:t>
            </a:r>
          </a:p>
          <a:p>
            <a:pPr marL="285750" indent="-285750">
              <a:buFont typeface="Arial" panose="020B0604020202020204" pitchFamily="34" charset="0"/>
              <a:buChar char="•"/>
            </a:pPr>
            <a:r>
              <a:rPr lang="en-IN" sz="2400" dirty="0"/>
              <a:t>Interactive chatbot </a:t>
            </a:r>
          </a:p>
          <a:p>
            <a:pPr marL="285750" indent="-285750">
              <a:buFont typeface="Arial" panose="020B0604020202020204" pitchFamily="34" charset="0"/>
              <a:buChar char="•"/>
            </a:pPr>
            <a:r>
              <a:rPr lang="en-IN" sz="2400" dirty="0"/>
              <a:t>Weather-aware suggestions </a:t>
            </a:r>
          </a:p>
          <a:p>
            <a:pPr marL="285750" indent="-285750">
              <a:buFont typeface="Arial" panose="020B0604020202020204" pitchFamily="34" charset="0"/>
              <a:buChar char="•"/>
            </a:pPr>
            <a:r>
              <a:rPr lang="en-IN" sz="2400" dirty="0"/>
              <a:t>Beginner-friendly trekking guidance </a:t>
            </a:r>
          </a:p>
          <a:p>
            <a:pPr marL="285750" indent="-285750">
              <a:buFont typeface="Arial" panose="020B0604020202020204" pitchFamily="34" charset="0"/>
              <a:buChar char="•"/>
            </a:pPr>
            <a:r>
              <a:rPr lang="en-IN" sz="2400" dirty="0"/>
              <a:t>Fast itinerary generation </a:t>
            </a:r>
          </a:p>
          <a:p>
            <a:pPr marL="285750" indent="-285750">
              <a:buFont typeface="Arial" panose="020B0604020202020204" pitchFamily="34" charset="0"/>
              <a:buChar char="•"/>
            </a:pPr>
            <a:r>
              <a:rPr lang="en-IN" sz="2400" dirty="0"/>
              <a:t>Uses IBM Granite Large Language Model </a:t>
            </a:r>
          </a:p>
          <a:p>
            <a:pPr marL="285750" indent="-285750">
              <a:buFont typeface="Arial" panose="020B0604020202020204" pitchFamily="34" charset="0"/>
              <a:buChar char="•"/>
            </a:pPr>
            <a:r>
              <a:rPr lang="en-IN" sz="2400" dirty="0"/>
              <a:t>Built using </a:t>
            </a:r>
            <a:r>
              <a:rPr lang="en-IN" sz="2400" dirty="0" err="1"/>
              <a:t>LangFlow</a:t>
            </a:r>
            <a:r>
              <a:rPr lang="en-IN" sz="2400" dirty="0"/>
              <a:t> visual workflow </a:t>
            </a:r>
          </a:p>
          <a:p>
            <a:pPr marL="285750" indent="-285750">
              <a:buFont typeface="Arial" panose="020B0604020202020204" pitchFamily="34" charset="0"/>
              <a:buChar char="•"/>
            </a:pPr>
            <a:r>
              <a:rPr lang="en-IN" sz="2400" dirty="0"/>
              <a:t>Easy-to-use web interface</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r>
              <a:rPr lang="en-US" sz="1850" b="0" i="0" u="none" strike="noStrike" cap="none" dirty="0">
                <a:solidFill>
                  <a:srgbClr val="2B3541"/>
                </a:solidFill>
                <a:latin typeface="Times New Roman"/>
                <a:ea typeface="Times New Roman"/>
                <a:cs typeface="Times New Roman"/>
                <a:sym typeface="Times New Roman"/>
              </a:rPr>
              <a:t>·</a:t>
            </a:r>
            <a:r>
              <a:rPr lang="en-IN" sz="2000" dirty="0"/>
              <a:t>Repository:</a:t>
            </a:r>
          </a:p>
          <a:p>
            <a:pPr lvl="0">
              <a:lnSpc>
                <a:spcPct val="162162"/>
              </a:lnSpc>
              <a:buClr>
                <a:srgbClr val="2B3541"/>
              </a:buClr>
              <a:buSzPts val="1850"/>
            </a:pPr>
            <a:r>
              <a:rPr lang="en-IN" sz="1850">
                <a:latin typeface="Times New Roman"/>
                <a:ea typeface="Times New Roman"/>
                <a:cs typeface="Times New Roman"/>
                <a:sym typeface="Times New Roman"/>
              </a:rPr>
              <a:t>https://github.com/tanvi523/trek-plan.git</a:t>
            </a: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807720" y="1221715"/>
            <a:ext cx="9625584" cy="5215556"/>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IN" sz="2000" dirty="0"/>
              <a:t>Live weather integration </a:t>
            </a:r>
          </a:p>
          <a:p>
            <a:pPr marL="342900" lvl="0" indent="-342900">
              <a:lnSpc>
                <a:spcPct val="162162"/>
              </a:lnSpc>
              <a:buClr>
                <a:srgbClr val="2B3541"/>
              </a:buClr>
              <a:buSzPts val="1850"/>
              <a:buFont typeface="Arial" panose="020B0604020202020204" pitchFamily="34" charset="0"/>
              <a:buChar char="•"/>
            </a:pPr>
            <a:r>
              <a:rPr lang="en-IN" sz="2000" dirty="0"/>
              <a:t>Google Maps navigation</a:t>
            </a:r>
          </a:p>
          <a:p>
            <a:pPr marL="342900" lvl="0" indent="-342900">
              <a:lnSpc>
                <a:spcPct val="162162"/>
              </a:lnSpc>
              <a:buClr>
                <a:srgbClr val="2B3541"/>
              </a:buClr>
              <a:buSzPts val="1850"/>
              <a:buFont typeface="Arial" panose="020B0604020202020204" pitchFamily="34" charset="0"/>
              <a:buChar char="•"/>
            </a:pPr>
            <a:r>
              <a:rPr lang="en-IN" sz="2000" dirty="0"/>
              <a:t> Hotel booking integration</a:t>
            </a:r>
          </a:p>
          <a:p>
            <a:pPr marL="342900" lvl="0" indent="-342900">
              <a:lnSpc>
                <a:spcPct val="162162"/>
              </a:lnSpc>
              <a:buClr>
                <a:srgbClr val="2B3541"/>
              </a:buClr>
              <a:buSzPts val="1850"/>
              <a:buFont typeface="Arial" panose="020B0604020202020204" pitchFamily="34" charset="0"/>
              <a:buChar char="•"/>
            </a:pPr>
            <a:r>
              <a:rPr lang="en-IN" sz="2000" dirty="0"/>
              <a:t> Trek permit booking </a:t>
            </a:r>
          </a:p>
          <a:p>
            <a:pPr marL="342900" lvl="0" indent="-342900">
              <a:lnSpc>
                <a:spcPct val="162162"/>
              </a:lnSpc>
              <a:buClr>
                <a:srgbClr val="2B3541"/>
              </a:buClr>
              <a:buSzPts val="1850"/>
              <a:buFont typeface="Arial" panose="020B0604020202020204" pitchFamily="34" charset="0"/>
              <a:buChar char="•"/>
            </a:pPr>
            <a:r>
              <a:rPr lang="en-IN" sz="2000" dirty="0"/>
              <a:t>Offline itinerary download</a:t>
            </a:r>
          </a:p>
          <a:p>
            <a:pPr marL="342900" lvl="0" indent="-342900">
              <a:lnSpc>
                <a:spcPct val="162162"/>
              </a:lnSpc>
              <a:buClr>
                <a:srgbClr val="2B3541"/>
              </a:buClr>
              <a:buSzPts val="1850"/>
              <a:buFont typeface="Arial" panose="020B0604020202020204" pitchFamily="34" charset="0"/>
              <a:buChar char="•"/>
            </a:pPr>
            <a:r>
              <a:rPr lang="en-IN" sz="2000" dirty="0"/>
              <a:t> Emergency SOS feature</a:t>
            </a:r>
          </a:p>
          <a:p>
            <a:pPr marL="342900" lvl="0" indent="-342900">
              <a:lnSpc>
                <a:spcPct val="162162"/>
              </a:lnSpc>
              <a:buClr>
                <a:srgbClr val="2B3541"/>
              </a:buClr>
              <a:buSzPts val="1850"/>
              <a:buFont typeface="Arial" panose="020B0604020202020204" pitchFamily="34" charset="0"/>
              <a:buChar char="•"/>
            </a:pPr>
            <a:r>
              <a:rPr lang="en-IN" sz="2000" dirty="0"/>
              <a:t> Budget estimation </a:t>
            </a:r>
          </a:p>
          <a:p>
            <a:pPr marL="342900" lvl="0" indent="-342900">
              <a:lnSpc>
                <a:spcPct val="162162"/>
              </a:lnSpc>
              <a:buClr>
                <a:srgbClr val="2B3541"/>
              </a:buClr>
              <a:buSzPts val="1850"/>
              <a:buFont typeface="Arial" panose="020B0604020202020204" pitchFamily="34" charset="0"/>
              <a:buChar char="•"/>
            </a:pPr>
            <a:r>
              <a:rPr lang="en-IN" sz="2000" dirty="0"/>
              <a:t>AI image recognition of trekking routes</a:t>
            </a:r>
          </a:p>
          <a:p>
            <a:pPr marL="342900" lvl="0" indent="-342900">
              <a:lnSpc>
                <a:spcPct val="162162"/>
              </a:lnSpc>
              <a:buClr>
                <a:srgbClr val="2B3541"/>
              </a:buClr>
              <a:buSzPts val="1850"/>
              <a:buFont typeface="Arial" panose="020B0604020202020204" pitchFamily="34" charset="0"/>
              <a:buChar char="•"/>
            </a:pPr>
            <a:r>
              <a:rPr lang="en-IN" sz="2000" dirty="0"/>
              <a:t> Mobile application </a:t>
            </a:r>
          </a:p>
          <a:p>
            <a:pPr marL="342900" lvl="0" indent="-342900">
              <a:lnSpc>
                <a:spcPct val="162162"/>
              </a:lnSpc>
              <a:buClr>
                <a:srgbClr val="2B3541"/>
              </a:buClr>
              <a:buSzPts val="1850"/>
              <a:buFont typeface="Arial" panose="020B0604020202020204" pitchFamily="34" charset="0"/>
              <a:buChar char="•"/>
            </a:pPr>
            <a:r>
              <a:rPr lang="en-IN" sz="2000" dirty="0"/>
              <a:t>Voice assistant support</a:t>
            </a: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1AB1A5FA-3854-F551-EAD1-3C018CB4D803}"/>
              </a:ext>
            </a:extLst>
          </p:cNvPr>
          <p:cNvPicPr>
            <a:picLocks noChangeAspect="1"/>
          </p:cNvPicPr>
          <p:nvPr/>
        </p:nvPicPr>
        <p:blipFill>
          <a:blip r:embed="rId3"/>
          <a:stretch>
            <a:fillRect/>
          </a:stretch>
        </p:blipFill>
        <p:spPr>
          <a:xfrm>
            <a:off x="3960529" y="3742957"/>
            <a:ext cx="3021456" cy="3021456"/>
          </a:xfrm>
          <a:prstGeom prst="rect">
            <a:avLst/>
          </a:prstGeom>
        </p:spPr>
      </p:pic>
      <p:pic>
        <p:nvPicPr>
          <p:cNvPr id="4" name="Picture 3">
            <a:extLst>
              <a:ext uri="{FF2B5EF4-FFF2-40B4-BE49-F238E27FC236}">
                <a16:creationId xmlns:a16="http://schemas.microsoft.com/office/drawing/2014/main" id="{0C18AAE6-4B2D-CA96-4689-62B7A761F6BC}"/>
              </a:ext>
            </a:extLst>
          </p:cNvPr>
          <p:cNvPicPr>
            <a:picLocks noChangeAspect="1"/>
          </p:cNvPicPr>
          <p:nvPr/>
        </p:nvPicPr>
        <p:blipFill>
          <a:blip r:embed="rId4"/>
          <a:stretch>
            <a:fillRect/>
          </a:stretch>
        </p:blipFill>
        <p:spPr>
          <a:xfrm>
            <a:off x="3888505" y="571500"/>
            <a:ext cx="3021457" cy="3021457"/>
          </a:xfrm>
          <a:prstGeom prst="rect">
            <a:avLst/>
          </a:prstGeom>
        </p:spPr>
      </p:pic>
      <p:pic>
        <p:nvPicPr>
          <p:cNvPr id="6" name="Picture 5">
            <a:extLst>
              <a:ext uri="{FF2B5EF4-FFF2-40B4-BE49-F238E27FC236}">
                <a16:creationId xmlns:a16="http://schemas.microsoft.com/office/drawing/2014/main" id="{28794C15-7CF8-7B49-0AC4-DB912DA6F709}"/>
              </a:ext>
            </a:extLst>
          </p:cNvPr>
          <p:cNvPicPr>
            <a:picLocks noChangeAspect="1"/>
          </p:cNvPicPr>
          <p:nvPr/>
        </p:nvPicPr>
        <p:blipFill>
          <a:blip r:embed="rId5"/>
          <a:stretch>
            <a:fillRect/>
          </a:stretch>
        </p:blipFill>
        <p:spPr>
          <a:xfrm>
            <a:off x="327949" y="726305"/>
            <a:ext cx="2866652" cy="2866652"/>
          </a:xfrm>
          <a:prstGeom prst="rect">
            <a:avLst/>
          </a:prstGeom>
        </p:spPr>
      </p:pic>
      <p:pic>
        <p:nvPicPr>
          <p:cNvPr id="8" name="Picture 7">
            <a:extLst>
              <a:ext uri="{FF2B5EF4-FFF2-40B4-BE49-F238E27FC236}">
                <a16:creationId xmlns:a16="http://schemas.microsoft.com/office/drawing/2014/main" id="{0D51D878-DB3F-DCB7-8F65-5EA756E4BBC4}"/>
              </a:ext>
            </a:extLst>
          </p:cNvPr>
          <p:cNvPicPr>
            <a:picLocks noChangeAspect="1"/>
          </p:cNvPicPr>
          <p:nvPr/>
        </p:nvPicPr>
        <p:blipFill>
          <a:blip r:embed="rId6"/>
          <a:stretch>
            <a:fillRect/>
          </a:stretch>
        </p:blipFill>
        <p:spPr>
          <a:xfrm>
            <a:off x="7747912" y="571500"/>
            <a:ext cx="3171457" cy="31714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FBD6754D-0575-85B7-106A-222C2062C003}"/>
              </a:ext>
            </a:extLst>
          </p:cNvPr>
          <p:cNvPicPr>
            <a:picLocks noChangeAspect="1"/>
          </p:cNvPicPr>
          <p:nvPr/>
        </p:nvPicPr>
        <p:blipFill>
          <a:blip r:embed="rId3"/>
          <a:stretch>
            <a:fillRect/>
          </a:stretch>
        </p:blipFill>
        <p:spPr>
          <a:xfrm>
            <a:off x="694517" y="998009"/>
            <a:ext cx="9230865" cy="58599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520</Words>
  <Application>Microsoft Office PowerPoint</Application>
  <PresentationFormat>Widescreen</PresentationFormat>
  <Paragraphs>113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Tanvi Patil</cp:lastModifiedBy>
  <cp:revision>3</cp:revision>
  <dcterms:created xsi:type="dcterms:W3CDTF">2025-07-08T05:06:56Z</dcterms:created>
  <dcterms:modified xsi:type="dcterms:W3CDTF">2026-07-18T14:33:14Z</dcterms:modified>
</cp:coreProperties>
</file>